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ivilege_dining_center_13.333_7.500_0.42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spc="340">
                <a:solidFill>
                  <a:srgbClr val="FFFFFF"/>
                </a:solidFill>
                <a:latin typeface="Arial"/>
              </a:rPr>
              <a:t>ORKAY TILES INTERNATIONAL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207008"/>
            <a:ext cx="1005840" cy="228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102412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spc="-80">
                <a:solidFill>
                  <a:srgbClr val="FFFFFF"/>
                </a:solidFill>
                <a:latin typeface="Arial"/>
              </a:rPr>
              <a:t>CRAFTED IN MORBI.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spc="-80">
                <a:solidFill>
                  <a:srgbClr val="FFFFFF"/>
                </a:solidFill>
                <a:latin typeface="Arial"/>
              </a:rPr>
              <a:t>DESIGNED FOR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553712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DDDDDD"/>
                </a:solidFill>
                <a:latin typeface="Arial"/>
              </a:rPr>
              <a:t>A global-first digital experience showcasing ORKAY as an internationally trusted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DDDDDD"/>
                </a:solidFill>
                <a:latin typeface="Arial"/>
              </a:rPr>
              <a:t>manufacturer with Indian roots and world-class standards.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5669280"/>
            <a:ext cx="10619201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897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spc="240">
                <a:solidFill>
                  <a:srgbClr val="ED1C24"/>
                </a:solidFill>
                <a:latin typeface="Arial"/>
              </a:rPr>
              <a:t>WEBSITE CONCEPT 01  ·  DESIGN 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3425" y="589788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50" b="0" spc="100">
                <a:solidFill>
                  <a:srgbClr val="A8A8A8"/>
                </a:solidFill>
                <a:latin typeface="Arial"/>
              </a:rPr>
              <a:t>IDEA → VISUAL LANGUAGE → COLOUR → TYPE → IMAGERY → UX → MOTION → RATIONALE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THE STORYLINE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800" b="1" spc="-40">
                <a:solidFill>
                  <a:srgbClr val="FFFFFF"/>
                </a:solidFill>
                <a:latin typeface="Arial"/>
              </a:rPr>
              <a:t>HOW THIS DECK READS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938528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228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spc="160">
                <a:solidFill>
                  <a:srgbClr val="ED1C24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715768"/>
            <a:ext cx="228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20">
                <a:solidFill>
                  <a:srgbClr val="FFFFFF"/>
                </a:solidFill>
                <a:latin typeface="Arial"/>
              </a:rPr>
              <a:t>THE 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355848"/>
            <a:ext cx="224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From Morbi. To the World.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59352"/>
            <a:ext cx="228904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1184" y="2331720"/>
            <a:ext cx="228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spc="160">
                <a:solidFill>
                  <a:srgbClr val="ED1C24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1184" y="2715768"/>
            <a:ext cx="228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20">
                <a:solidFill>
                  <a:srgbClr val="FFFFFF"/>
                </a:solidFill>
                <a:latin typeface="Arial"/>
              </a:rPr>
              <a:t>VISUAL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184" y="3355848"/>
            <a:ext cx="224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A gallery, not a catalogue.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1184" y="3959352"/>
            <a:ext cx="228904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984" y="2331720"/>
            <a:ext cx="228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spc="160">
                <a:solidFill>
                  <a:srgbClr val="ED1C24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984" y="2715768"/>
            <a:ext cx="228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20">
                <a:solidFill>
                  <a:srgbClr val="FFFFFF"/>
                </a:solidFill>
                <a:latin typeface="Arial"/>
              </a:rPr>
              <a:t>COLOUR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984" y="3355848"/>
            <a:ext cx="224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Colour as a material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984" y="3959352"/>
            <a:ext cx="228904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0785" y="2331720"/>
            <a:ext cx="228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spc="160">
                <a:solidFill>
                  <a:srgbClr val="ED1C24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785" y="2715768"/>
            <a:ext cx="228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20">
                <a:solidFill>
                  <a:srgbClr val="FFFFFF"/>
                </a:solidFill>
                <a:latin typeface="Arial"/>
              </a:rPr>
              <a:t>TYPOGRAPHY &amp; HIERARCHY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785" y="3355848"/>
            <a:ext cx="224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Typography creates the voice.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0785" y="3959352"/>
            <a:ext cx="228904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160520"/>
            <a:ext cx="228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spc="160">
                <a:solidFill>
                  <a:srgbClr val="ED1C24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544568"/>
            <a:ext cx="228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20">
                <a:solidFill>
                  <a:srgbClr val="FFFFFF"/>
                </a:solidFill>
                <a:latin typeface="Arial"/>
              </a:rPr>
              <a:t>IMAGE &amp; ART 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184648"/>
            <a:ext cx="224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Making surfaces the hero.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788152"/>
            <a:ext cx="228904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1184" y="4160520"/>
            <a:ext cx="228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spc="160">
                <a:solidFill>
                  <a:srgbClr val="ED1C24"/>
                </a:solidFill>
                <a:latin typeface="Arial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1184" y="4544568"/>
            <a:ext cx="228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20">
                <a:solidFill>
                  <a:srgbClr val="FFFFFF"/>
                </a:solidFill>
                <a:latin typeface="Arial"/>
              </a:rPr>
              <a:t>UX &amp; USER 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1184" y="5184648"/>
            <a:ext cx="224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From inspiration to enquiry.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41184" y="5788152"/>
            <a:ext cx="228904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5984" y="4160520"/>
            <a:ext cx="228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spc="160">
                <a:solidFill>
                  <a:srgbClr val="ED1C24"/>
                </a:solidFill>
                <a:latin typeface="Arial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984" y="4544568"/>
            <a:ext cx="228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20">
                <a:solidFill>
                  <a:srgbClr val="FFFFFF"/>
                </a:solidFill>
                <a:latin typeface="Arial"/>
              </a:rPr>
              <a:t>INTERACTION &amp; 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984" y="5184648"/>
            <a:ext cx="224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Movement with purpose.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5984" y="5788152"/>
            <a:ext cx="228904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785" y="4160520"/>
            <a:ext cx="228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spc="160">
                <a:solidFill>
                  <a:srgbClr val="ED1C24"/>
                </a:solidFill>
                <a:latin typeface="Arial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785" y="4544568"/>
            <a:ext cx="228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20">
                <a:solidFill>
                  <a:srgbClr val="FFFFFF"/>
                </a:solidFill>
                <a:latin typeface="Arial"/>
              </a:rPr>
              <a:t>WHY THIS CONCEPT 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0785" y="5184648"/>
            <a:ext cx="224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Measured, not asserted.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50785" y="5788152"/>
            <a:ext cx="228904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dusk_center_13.333_7.500_0.4_id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0000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00000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THE 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200" b="1" spc="-40">
                <a:solidFill>
                  <a:srgbClr val="FFFFFF"/>
                </a:solidFill>
                <a:latin typeface="Arial"/>
              </a:rPr>
              <a:t>FROM MORBI.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200" b="1" spc="-40">
                <a:solidFill>
                  <a:srgbClr val="FFFFFF"/>
                </a:solidFill>
                <a:latin typeface="Arial"/>
              </a:rPr>
              <a:t>TO THE WORLD.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2724912"/>
            <a:ext cx="1005840" cy="228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999232"/>
            <a:ext cx="48463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980" b="0">
                <a:solidFill>
                  <a:srgbClr val="C8C8C8"/>
                </a:solidFill>
                <a:latin typeface="Arial"/>
              </a:rPr>
              <a:t>Morbi fires most of India's porcelain — and almost nobody outside the trade knows its name. The concept turns that anonymity into the story: name the town, then prove the reach.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980" b="0">
                <a:solidFill>
                  <a:srgbClr val="C8C8C8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980" b="0">
                <a:solidFill>
                  <a:srgbClr val="C8C8C8"/>
                </a:solidFill>
                <a:latin typeface="Arial"/>
              </a:rPr>
              <a:t>The site opens on a black panel and a lit interior, holds a single Indian face against a marble wall, then spends twenty-two full-bleed screens walking a buyer from a Gujarat kiln to a lobby in forty countries.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980" b="0">
                <a:solidFill>
                  <a:srgbClr val="C8C8C8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980" b="0">
                <a:solidFill>
                  <a:srgbClr val="C8C8C8"/>
                </a:solidFill>
                <a:latin typeface="Arial"/>
              </a:rPr>
              <a:t>It is built to make an importer in Dubai, Nairobi or Warsaw feel they are dealing with a house, not a supplier — and to make an Indian origin read as provenance, not as a discount.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5705856"/>
            <a:ext cx="4846320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59070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1" spc="200">
                <a:solidFill>
                  <a:srgbClr val="8A8A8A"/>
                </a:solidFill>
                <a:latin typeface="Arial"/>
              </a:rPr>
              <a:t>ONE-LINE PHILOSOPHY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61264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ED1C24"/>
                </a:solidFill>
                <a:latin typeface="Arial"/>
              </a:rPr>
              <a:t>Indian origin, stated proudly. Global standard, demonstrated quietly.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7A7A7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7A7A7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THE CORE IDEA · ON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 spc="-40">
                <a:solidFill>
                  <a:srgbClr val="FFFFFF"/>
                </a:solidFill>
                <a:latin typeface="Arial"/>
              </a:rPr>
              <a:t>THREE SCREENS CARRY THE WHOLE THESIS</a:t>
            </a:r>
          </a:p>
        </p:txBody>
      </p:sp>
      <p:pic>
        <p:nvPicPr>
          <p:cNvPr id="5" name="Picture 4" descr="s01_hero_center_3.724_2.095_None_i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21408"/>
            <a:ext cx="3405621" cy="19156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4274814"/>
            <a:ext cx="34056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spc="40">
                <a:solidFill>
                  <a:srgbClr val="FFFFFF"/>
                </a:solidFill>
                <a:latin typeface="Arial"/>
              </a:rPr>
              <a:t>ORIGIN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4658862"/>
            <a:ext cx="457200" cy="177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4841742"/>
            <a:ext cx="331418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A single Indian figure, a marble wall, and SINCE 1996 set across the full width. Person first, material second, brand third — the order a surfaces manufacturer needs.</a:t>
            </a:r>
          </a:p>
        </p:txBody>
      </p:sp>
      <p:pic>
        <p:nvPicPr>
          <p:cNvPr id="9" name="Picture 8" descr="s03_morbi_center_3.724_2.095_None_i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173" y="2121408"/>
            <a:ext cx="3405621" cy="19156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93173" y="4274814"/>
            <a:ext cx="34056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spc="40">
                <a:solidFill>
                  <a:srgbClr val="FFFFFF"/>
                </a:solidFill>
                <a:latin typeface="Arial"/>
              </a:rPr>
              <a:t>PLACE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3173" y="4658862"/>
            <a:ext cx="457200" cy="177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3173" y="4841742"/>
            <a:ext cx="331418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The wordmark scales to 2.7× over one word — MORBI. The town is given the same typographic weight as the brand, because the concept says it earned it.</a:t>
            </a:r>
          </a:p>
        </p:txBody>
      </p:sp>
      <p:pic>
        <p:nvPicPr>
          <p:cNvPr id="13" name="Picture 12" descr="s04_exportmap_center_3.724_2.095_None_i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963" y="2121408"/>
            <a:ext cx="3405621" cy="19156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99963" y="4274814"/>
            <a:ext cx="34056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spc="40">
                <a:solidFill>
                  <a:srgbClr val="FFFFFF"/>
                </a:solidFill>
                <a:latin typeface="Arial"/>
              </a:rPr>
              <a:t>REACH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9963" y="4658862"/>
            <a:ext cx="457200" cy="177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9963" y="4841742"/>
            <a:ext cx="331418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Every red arc leaves one gate in Gujarat. The map is the proof asset: 40+ countries, one origin, and it owns its screen entirely.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VISUAL CONCEPT &amp; DESIGN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600" b="1" spc="-40">
                <a:solidFill>
                  <a:srgbClr val="FFFFFF"/>
                </a:solidFill>
                <a:latin typeface="Arial"/>
              </a:rPr>
              <a:t>A GALLERY, NOT A CATALOGUE.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975104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21284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AESTHETIC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1215" y="2194560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Editorial full-bleed. Twenty-two screens, one subject each — no product grid anywhere on the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7121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VISUAL PERSONALITY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5" y="2852928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Composed and unhurried. Confident enough to leave a third of the first screen completely unlit.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52958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LAYOUT PHILOSOPHY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5" y="3511296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Copy anchored left, imagery right. A predictable axis the eye learns by the third screen.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18795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GEOMETRY &amp;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5" y="4169664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34/66 splits, staggered pairs, matched frames — and one levitating collage as the deliberate exception.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846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WHITESPACE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5" y="4828032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Calm fields are load-bearing. They remove alternatives so the subject has nothing to compete with.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50468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MINIMAL, NOT EMPTY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5486400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Zero border-radius, zero shadows, one easing curve. Dense with photography, thin on interface.</a:t>
            </a:r>
          </a:p>
        </p:txBody>
      </p:sp>
      <p:pic>
        <p:nvPicPr>
          <p:cNvPr id="18" name="Picture 17" descr="t_peak_center_3.300_1.856_None_v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65" y="2212848"/>
            <a:ext cx="3017520" cy="1697355"/>
          </a:xfrm>
          <a:prstGeom prst="rect">
            <a:avLst/>
          </a:prstGeom>
        </p:spPr>
      </p:pic>
      <p:pic>
        <p:nvPicPr>
          <p:cNvPr id="19" name="Picture 18" descr="s13_spaces_center_3.300_1.856_None_vc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65" y="4074795"/>
            <a:ext cx="3017520" cy="16973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88065" y="588187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Two consecutive plates: a full-bleed image with one title, then a panel that holds still while the photograph behind it steps through five rooms. Same language, different tempo.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VISUAL CONCEPT · MOODBOARD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 spc="-40">
                <a:solidFill>
                  <a:srgbClr val="FFFFFF"/>
                </a:solidFill>
                <a:latin typeface="Arial"/>
              </a:rPr>
              <a:t>THE PAGE AS A SEQUENCE OF PLATES</a:t>
            </a:r>
          </a:p>
        </p:txBody>
      </p:sp>
      <p:pic>
        <p:nvPicPr>
          <p:cNvPr id="5" name="Picture 4" descr="s02_curtain_center_3.771_2.121_None_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847088"/>
            <a:ext cx="3448293" cy="1939665"/>
          </a:xfrm>
          <a:prstGeom prst="rect">
            <a:avLst/>
          </a:prstGeom>
        </p:spPr>
      </p:pic>
      <p:pic>
        <p:nvPicPr>
          <p:cNvPr id="6" name="Picture 5" descr="t_luxury_center_3.771_2.121_None_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837" y="1847088"/>
            <a:ext cx="3448293" cy="1939665"/>
          </a:xfrm>
          <a:prstGeom prst="rect">
            <a:avLst/>
          </a:prstGeom>
        </p:spPr>
      </p:pic>
      <p:pic>
        <p:nvPicPr>
          <p:cNvPr id="7" name="Picture 6" descr="t_experience_center_3.771_2.121_None_m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291" y="1847088"/>
            <a:ext cx="3448293" cy="1939665"/>
          </a:xfrm>
          <a:prstGeom prst="rect">
            <a:avLst/>
          </a:prstGeom>
        </p:spPr>
      </p:pic>
      <p:pic>
        <p:nvPicPr>
          <p:cNvPr id="8" name="Picture 7" descr="s13_spaces_center_3.771_2.121_None_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933057"/>
            <a:ext cx="3448293" cy="1939665"/>
          </a:xfrm>
          <a:prstGeom prst="rect">
            <a:avLst/>
          </a:prstGeom>
        </p:spPr>
      </p:pic>
      <p:pic>
        <p:nvPicPr>
          <p:cNvPr id="9" name="Picture 8" descr="t_materials_center_3.771_2.121_None_m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837" y="3933057"/>
            <a:ext cx="3448293" cy="1939665"/>
          </a:xfrm>
          <a:prstGeom prst="rect">
            <a:avLst/>
          </a:prstGeom>
        </p:spPr>
      </p:pic>
      <p:pic>
        <p:nvPicPr>
          <p:cNvPr id="10" name="Picture 9" descr="t_scale_center_3.771_2.121_None_m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291" y="3933057"/>
            <a:ext cx="3448293" cy="193966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6384" y="5797296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961888"/>
            <a:ext cx="106192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Dark plate, light plate, dark plate. Fourteen black screens and seven white ones alternate eight times down the scroll, so the page reads with a gallery cadence instead of a flat catalogue rhythm.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COLOUR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spc="-40">
                <a:solidFill>
                  <a:srgbClr val="FFFFFF"/>
                </a:solidFill>
                <a:latin typeface="Arial"/>
              </a:rPr>
              <a:t>COLOUR AS A MATERIAL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66543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" y="2377440"/>
            <a:ext cx="1316736" cy="1371600"/>
          </a:xfrm>
          <a:prstGeom prst="rect">
            <a:avLst/>
          </a:prstGeom>
          <a:solidFill>
            <a:srgbClr val="000000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385876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BLACK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096512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 spc="120">
                <a:solidFill>
                  <a:srgbClr val="8A8A8A"/>
                </a:solidFill>
                <a:latin typeface="Arial"/>
              </a:rPr>
              <a:t>#000000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29768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60">
                <a:solidFill>
                  <a:srgbClr val="5A5A5A"/>
                </a:solidFill>
                <a:latin typeface="Arial"/>
              </a:rPr>
              <a:t>PRIMARY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2377440"/>
            <a:ext cx="1316736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385876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WHITE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4096512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 spc="120">
                <a:solidFill>
                  <a:srgbClr val="8A8A8A"/>
                </a:solidFill>
                <a:latin typeface="Arial"/>
              </a:rPr>
              <a:t>#FFFFFF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429768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60">
                <a:solidFill>
                  <a:srgbClr val="5A5A5A"/>
                </a:solidFill>
                <a:latin typeface="Arial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2377440"/>
            <a:ext cx="1316736" cy="13716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385876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ORKAY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096512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 spc="120">
                <a:solidFill>
                  <a:srgbClr val="ED1C24"/>
                </a:solidFill>
                <a:latin typeface="Arial"/>
              </a:rPr>
              <a:t>#ED1C24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29768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60">
                <a:solidFill>
                  <a:srgbClr val="5A5A5A"/>
                </a:solidFill>
                <a:latin typeface="Arial"/>
              </a:rPr>
              <a:t>ACCENT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0368" y="2377440"/>
            <a:ext cx="1316736" cy="1371600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385876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LIGHT GREY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4096512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 spc="120">
                <a:solidFill>
                  <a:srgbClr val="8A8A8A"/>
                </a:solidFill>
                <a:latin typeface="Arial"/>
              </a:rPr>
              <a:t>#AAAAAA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29768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60">
                <a:solidFill>
                  <a:srgbClr val="5A5A5A"/>
                </a:solidFill>
                <a:latin typeface="Arial"/>
              </a:rPr>
              <a:t>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11696" y="2377440"/>
            <a:ext cx="1316736" cy="1371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385876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MID GREY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4096512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 spc="120">
                <a:solidFill>
                  <a:srgbClr val="8A8A8A"/>
                </a:solidFill>
                <a:latin typeface="Arial"/>
              </a:rPr>
              <a:t>#666666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429768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60">
                <a:solidFill>
                  <a:srgbClr val="5A5A5A"/>
                </a:solidFill>
                <a:latin typeface="Arial"/>
              </a:rPr>
              <a:t>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2377440"/>
            <a:ext cx="12801" cy="210312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2377440"/>
            <a:ext cx="24901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00">
                <a:solidFill>
                  <a:srgbClr val="FFFFFF"/>
                </a:solidFill>
                <a:latin typeface="Arial"/>
              </a:rPr>
              <a:t>WHY THIS PALETTE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724912"/>
            <a:ext cx="249018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70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Tile is sold on colour. Any brand colour on the page competes with the product, so the interface keeps none: it is black, white and one red hairline.</a:t>
            </a:r>
          </a:p>
          <a:p>
            <a:pPr algn="l">
              <a:lnSpc>
                <a:spcPct val="142000"/>
              </a:lnSpc>
              <a:spcAft>
                <a:spcPts val="70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  <a:spcAft>
                <a:spcPts val="70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Every colour a visitor sees is a surface ORKAY actually manufactures. The palette is the material.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4846320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084064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CONTRAST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394960"/>
            <a:ext cx="332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Polarity, not shading. Every section is declared ui-dark or ui-light and never a mid-grey. Pure #000 against pure #FFF gives 21:1, so type never needs a shadow or a scrim to survive.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2797" y="5084064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COLOUR PSYCHOLOGY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2797" y="5394960"/>
            <a:ext cx="332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Black is the gallery wall: it makes stone look expensive and removes every distraction around it. White is the specification sheet — where technical copy, formats and packing data live.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9211" y="5084064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RED, HELD 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9211" y="5394960"/>
            <a:ext cx="332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#ED1C24 is sampled from the ORKAY bullseye. In the UI it appears only as a 1px rule, a section label, a map arc, a hover and a focused form field — never as a fill. Scarcity is what makes it read as brand.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COLOUR SYSTEM · THE ACCENT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spc="-40">
                <a:solidFill>
                  <a:srgbClr val="FFFFFF"/>
                </a:solidFill>
                <a:latin typeface="Arial"/>
              </a:rPr>
              <a:t>ONE RED, SPENT LIKE CURRENCY</a:t>
            </a:r>
          </a:p>
        </p:txBody>
      </p:sp>
      <p:pic>
        <p:nvPicPr>
          <p:cNvPr id="5" name="Picture 4" descr="s04_exportmap_center_5.873_3.304_None_red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03120"/>
            <a:ext cx="5370545" cy="3020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5361795"/>
            <a:ext cx="537054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The export map is the one screen where red is allowed to multiply — and it is still only a 0.5px arc and a 2.4px dot. Forty-plus markers read as a constellation rather than as decoration, because nothing else on the black plate is coloured.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2212848"/>
            <a:ext cx="82296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15798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60">
                <a:solidFill>
                  <a:srgbClr val="FFFFFF"/>
                </a:solidFill>
                <a:latin typeface="Arial"/>
              </a:rPr>
              <a:t>THE BULLSEYE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450591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The only literal brand red that never inverts. The fixed wordmark runs a white layer plus a black ink clone whose clip-path is recomputed every frame — the red dot stays red through both.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3255264"/>
            <a:ext cx="82296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2004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60">
                <a:solidFill>
                  <a:srgbClr val="FFFFFF"/>
                </a:solidFill>
                <a:latin typeface="Arial"/>
              </a:rPr>
              <a:t>SECTION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349300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Export Network. Infrastructure. Our Products. Contact. Eight words on the entire page, each one red, each one 12px.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4297679"/>
            <a:ext cx="82296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424281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60">
                <a:solidFill>
                  <a:srgbClr val="FFFFFF"/>
                </a:solidFill>
                <a:latin typeface="Arial"/>
              </a:rPr>
              <a:t>THE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4535424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Arcs, pulse rings and the Morbi origin marker. Red is the export network made 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5340095"/>
            <a:ext cx="82296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5285231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60">
                <a:solidFill>
                  <a:srgbClr val="FFFFFF"/>
                </a:solidFill>
                <a:latin typeface="Arial"/>
              </a:rPr>
              <a:t>INTERACTION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557784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Menu hover, product rule wipe, footer heads, form focus border. Red never appears until the visitor does something.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COLOUR SYSTEM · THE BRAVE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900" b="1" spc="-40">
                <a:solidFill>
                  <a:srgbClr val="FFFFFF"/>
                </a:solidFill>
                <a:latin typeface="Arial"/>
              </a:rPr>
              <a:t>RED IS NOT ON THE INTERFACE. IT IS IN THE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45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Arial"/>
              </a:rPr>
              <a:t>The bravest colour decision on the site is that brand recognition is carried by the photography, not by the chrome. Four screens are art-directed around ORKAY red — and each one is a surface, an object or a set, never a graphic.</a:t>
            </a:r>
          </a:p>
        </p:txBody>
      </p:sp>
      <p:pic>
        <p:nvPicPr>
          <p:cNvPr id="6" name="Picture 5" descr="bath_red_center_4.620_2.400_None_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49424"/>
            <a:ext cx="4224528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4626864"/>
            <a:ext cx="422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ED1C24"/>
                </a:solidFill>
                <a:latin typeface="Arial"/>
              </a:rPr>
              <a:t>ROSSO MARBLE BATH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901183"/>
            <a:ext cx="41788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A full wall of deep red marble-look porcelain, veined white and lit low. The brand colour arrives as the product itself — and a scarlet macaw holds the left edge, so the eye lands on red before it reads the room.</a:t>
            </a:r>
          </a:p>
        </p:txBody>
      </p:sp>
      <p:pic>
        <p:nvPicPr>
          <p:cNvPr id="9" name="Picture 8" descr="style_horse_center_2.111_2.400_None_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249424"/>
            <a:ext cx="1930389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4626864"/>
            <a:ext cx="19303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ED1C24"/>
                </a:solidFill>
                <a:latin typeface="Arial"/>
              </a:rPr>
              <a:t>THE RED HORSE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901183"/>
            <a:ext cx="188466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Black slabs stood in an open yard, a figure in black, and one saturated red horse. Fashion-campaign nerve on a tile site: the only colour in the frame is the brand's.</a:t>
            </a:r>
          </a:p>
        </p:txBody>
      </p:sp>
      <p:pic>
        <p:nvPicPr>
          <p:cNvPr id="12" name="Picture 11" descr="statement_garage_left_2.111_2.400_None_c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637" y="2249424"/>
            <a:ext cx="1930389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43637" y="4626864"/>
            <a:ext cx="19303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ED1C24"/>
                </a:solidFill>
                <a:latin typeface="Arial"/>
              </a:rPr>
              <a:t>THE RED 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3637" y="4901183"/>
            <a:ext cx="188466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Behind glass, on polished ORKAY floor. Red as aspiration rather than as branding — it signals the buyer's world and reflects into the surface being sold.</a:t>
            </a:r>
          </a:p>
        </p:txBody>
      </p:sp>
      <p:pic>
        <p:nvPicPr>
          <p:cNvPr id="15" name="Picture 14" descr="milestone_2016_center_2.111_2.400_None_c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5195" y="2249424"/>
            <a:ext cx="1930389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75195" y="4626864"/>
            <a:ext cx="19303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ED1C24"/>
                </a:solidFill>
                <a:latin typeface="Arial"/>
              </a:rPr>
              <a:t>RED VELVET, 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5195" y="4901183"/>
            <a:ext cx="188466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A statuario slab on a red velvet stage under a chandelier. The milestone that put ORKAY at 65,000 sq.m a day is staged like a couture reveal.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5852160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016752"/>
            <a:ext cx="106192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rial"/>
              </a:rPr>
              <a:t>Result: a visitor who never reads the logo still leaves with the colour. Recognition is built into the art direction, so it survives a screenshot, a Pinterest crop and a printed catalogue page.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TYPOGRAPHY &amp;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spc="-40">
                <a:solidFill>
                  <a:srgbClr val="FFFFFF"/>
                </a:solidFill>
                <a:latin typeface="Arial"/>
              </a:rPr>
              <a:t>TYPOGRAPHY CREATES THE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48256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2860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1" spc="140">
                <a:solidFill>
                  <a:srgbClr val="ED1C24"/>
                </a:solidFill>
                <a:latin typeface="Arial"/>
              </a:rPr>
              <a:t>HANKEN GROTESK  ·  600 SEMIBOLD / 700 BOLD  ·  SET UPPERCASE THROUGHOUT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88336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spc="300">
                <a:solidFill>
                  <a:srgbClr val="FFFFFF"/>
                </a:solidFill>
                <a:latin typeface="Arial"/>
              </a:rPr>
              <a:t>SINCE 1996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60273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 spc="140">
                <a:solidFill>
                  <a:srgbClr val="5A5A5A"/>
                </a:solidFill>
                <a:latin typeface="Arial"/>
              </a:rPr>
              <a:t>DISPLAY  ·  CLAMP(44 – 110PX)  ·  LINE-HEIGHT 1.02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968496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Crafted in Morbi.</a:t>
            </a:r>
          </a:p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Designed for the World.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95604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 spc="140">
                <a:solidFill>
                  <a:srgbClr val="5A5A5A"/>
                </a:solidFill>
                <a:latin typeface="Arial"/>
              </a:rPr>
              <a:t>MID  ·  CLAMP(28 – 48PX)  ·  LINE-HEIGHT 1.07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3035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spc="110">
                <a:solidFill>
                  <a:srgbClr val="C8C8C8"/>
                </a:solidFill>
                <a:latin typeface="Arial"/>
              </a:rPr>
              <a:t>VITRIFIED · PORCELAIN · CERAMIC · SLABS · COUNTERTOPS · OUTDOOR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59612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 spc="140">
                <a:solidFill>
                  <a:srgbClr val="5A5A5A"/>
                </a:solidFill>
                <a:latin typeface="Arial"/>
              </a:rPr>
              <a:t>SMALL  ·  12PX / 16PX  ·  LETTER-SPACING 0.36PX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12801" cy="379476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286000"/>
            <a:ext cx="33131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WHY THIS TYPEFACE BELONGS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651760"/>
            <a:ext cx="3313145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Three voices, no more. Display, mid, small — one page, one scale, zero exceptions. A serif or a decorative face would have decorated the product; a geometric grotesk stays out of the way of stone.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Uppercase everywhere. Caps give a wordmark rhythm to running copy and let type sit directly on photography without a box behind it — the discipline architecture and fashion houses use on signage.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Wide tracking on the small voice. 0.36px on 12px copy turns specification detail — sizes, kg per box, sq.m per container — into something that reads as an engraved plate rather than a datasheet.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One weight pair. 600 for everything, 700 for the wordmark and display line, so hierarchy comes from scale and space rather than from six competing weights.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TYPOGRAPHY &amp; HIERARCHY · THE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spc="-40">
                <a:solidFill>
                  <a:srgbClr val="FFFFFF"/>
                </a:solidFill>
                <a:latin typeface="Arial"/>
              </a:rPr>
              <a:t>ONE DECISION PER SCREEN</a:t>
            </a:r>
          </a:p>
        </p:txBody>
      </p:sp>
      <p:pic>
        <p:nvPicPr>
          <p:cNvPr id="5" name="Picture 4" descr="s01_hero_center_7.300_4.106_None_v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03120"/>
            <a:ext cx="6675120" cy="37547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077331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The desktop fold: four elements, one of them a face, and 34% of the width left deliberately unlit.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3969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ED1C2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6" y="217627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60">
                <a:solidFill>
                  <a:srgbClr val="FFFFFF"/>
                </a:solidFill>
                <a:latin typeface="Arial"/>
              </a:rPr>
              <a:t>THE SUBJECT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6" y="2468879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A human figure on the seam between the black panel and the lit interior — maximum tonal separation, maximum pull.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6382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ED1C2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4736" y="320040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60">
                <a:solidFill>
                  <a:srgbClr val="FFFFFF"/>
                </a:solidFill>
                <a:latin typeface="Arial"/>
              </a:rPr>
              <a:t>THE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349300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The marble wall behind him. The product registers inside the first second without being sold to anyone.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1879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ED1C2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422452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60">
                <a:solidFill>
                  <a:srgbClr val="FFFFFF"/>
                </a:solidFill>
                <a:latin typeface="Arial"/>
              </a:rPr>
              <a:t>THE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4517136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SINCE 1996 spans the full viewport width, flex space-between, so the glyphs land exactly on both margins.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21208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ED1C24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524865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60">
                <a:solidFill>
                  <a:srgbClr val="FFFFFF"/>
                </a:solidFill>
                <a:latin typeface="Arial"/>
              </a:rPr>
              <a:t>THE ONE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5541264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A single glass pill in the top-right quadrant. Isolation beats size — there is exactly one thing to click.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6053328"/>
            <a:ext cx="3633185" cy="177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6217920"/>
            <a:ext cx="363318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The same ladder is rebuilt 21 more times down the scroll.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IMAGE &amp; ART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600" b="1" spc="-40">
                <a:solidFill>
                  <a:srgbClr val="FFFFFF"/>
                </a:solidFill>
                <a:latin typeface="Arial"/>
              </a:rPr>
              <a:t>MAKING SURFACES THE HERO.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975104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212848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PHOTOGRAPHY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87168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Set-built, not catalogue. Every frame is lit for one material and stripped of any prop that would compete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71215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SCALE &amp; CROPPING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145535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Full-bleed by default. Slabs are shot standing, at human height, so a 1200×2400 panel reads as architecture rather than as a sample.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529583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HUMAN PRESENCE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803903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Used sparingly, always for scale or aspiration. A figure beside a slab tells an importer the size faster than a dimension line does.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187951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LIGHTING &amp; MOOD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462271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Low-key, directional, specular. Gloss is the product claim, so every hero frame carries a reflection running across the floor.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846319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IMAGE ↔ TYPOGRAPHY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120639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Type sits on the photograph, never inside a box. Caps and a single scrim gradient do the work a panel would otherwise 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504687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WHY THESE IMAGES BELONG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779007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Each one answers a buyer's question — how big, how it reflects, how it ages, how it looks in my light. None is mood for its own sake.</a:t>
            </a:r>
          </a:p>
        </p:txBody>
      </p:sp>
      <p:pic>
        <p:nvPicPr>
          <p:cNvPr id="18" name="Picture 17" descr="t_experience_center_3.300_1.856_None_ar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65" y="2212848"/>
            <a:ext cx="3017520" cy="1697355"/>
          </a:xfrm>
          <a:prstGeom prst="rect">
            <a:avLst/>
          </a:prstGeom>
        </p:spPr>
      </p:pic>
      <p:pic>
        <p:nvPicPr>
          <p:cNvPr id="19" name="Picture 18" descr="t_plate_center_3.300_1.856_None_ar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65" y="4074795"/>
            <a:ext cx="3017520" cy="16973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88065" y="588187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A slab on a black-sand shore and a dining room at sunset. Both are product photographs; neither looks like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IMAGE &amp; ART DIRECTION · MORBI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spc="-40">
                <a:solidFill>
                  <a:srgbClr val="FFFFFF"/>
                </a:solidFill>
                <a:latin typeface="Arial"/>
              </a:rPr>
              <a:t>THE INDIAN THREAD, SHOWN AS LUXURY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6420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Arial"/>
              </a:rPr>
              <a:t>Indian-ness is never signalled with a flag, a pattern or a colour cliché. It arrives through casting, craft and place — the same way a European house signals its own origin.</a:t>
            </a:r>
          </a:p>
        </p:txBody>
      </p:sp>
      <p:pic>
        <p:nvPicPr>
          <p:cNvPr id="6" name="Picture 5" descr="s02_curtain_center_4.620_2.400_None_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49424"/>
            <a:ext cx="4224528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4626864"/>
            <a:ext cx="422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FFFFFF"/>
                </a:solidFill>
                <a:latin typeface="Arial"/>
              </a:rPr>
              <a:t>THE PEACOCK &amp; THE SARI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901183"/>
            <a:ext cx="41788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A peacock beside a book-matched slab, a woman in a black-and-gold sari holding the right edge. India stated at couture register, not at souvenir register — and it is the second screen on the site.</a:t>
            </a:r>
          </a:p>
        </p:txBody>
      </p:sp>
      <p:pic>
        <p:nvPicPr>
          <p:cNvPr id="9" name="Picture 8" descr="experience_black_right_2.111_2.400_None_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249424"/>
            <a:ext cx="1930389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4626864"/>
            <a:ext cx="19303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FFFFFF"/>
                </a:solidFill>
                <a:latin typeface="Arial"/>
              </a:rPr>
              <a:t>GOLD ZARI ON BLACK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901183"/>
            <a:ext cx="188466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Nero slab, black sari, gold embroidery and jhumka earrings against an Icelandic shore. Indian craft placed on a world stage, literally.</a:t>
            </a:r>
          </a:p>
        </p:txBody>
      </p:sp>
      <p:pic>
        <p:nvPicPr>
          <p:cNvPr id="12" name="Picture 11" descr="milestone_1996_store_center_2.111_2.400_None_c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637" y="2249424"/>
            <a:ext cx="1930389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43637" y="4626864"/>
            <a:ext cx="19303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FFFFFF"/>
                </a:solidFill>
                <a:latin typeface="Arial"/>
              </a:rPr>
              <a:t>THE FIRST SHOWROOM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3637" y="4901183"/>
            <a:ext cx="188466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1996: gold letters, glass block, and the ORKAY bullseye with its red underline lit above the door. The brand's own history becomes the imagery.</a:t>
            </a:r>
          </a:p>
        </p:txBody>
      </p:sp>
      <p:pic>
        <p:nvPicPr>
          <p:cNvPr id="15" name="Picture 14" descr="mundra_port_center_2.111_2.400_None_c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5195" y="2249424"/>
            <a:ext cx="1930389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75195" y="4626864"/>
            <a:ext cx="19303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FFFFFF"/>
                </a:solidFill>
                <a:latin typeface="Arial"/>
              </a:rPr>
              <a:t>MUNDRA 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5195" y="4901183"/>
            <a:ext cx="188466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Crated slabs on the quay at sunrise. Morbi is never presented as remote — it is presented as three hours from a deep-water 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5852160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016752"/>
            <a:ext cx="106192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rial"/>
              </a:rPr>
              <a:t>And a national brand ambassador standing in the fold: an Indian face is the first fixation on the entire site, by design.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IMAGE &amp; ART DIRECTION · LUXURY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 spc="-40">
                <a:solidFill>
                  <a:srgbClr val="FFFFFF"/>
                </a:solidFill>
                <a:latin typeface="Arial"/>
              </a:rPr>
              <a:t>LUXURY IS PROVED BY THE ROOM, NOT BY THE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6420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Arial"/>
              </a:rPr>
              <a:t>No badges, no gold gradients, no 'premium' label anywhere in the copy. Luxury is established the way it is established in print: restraint, scale, light, and one expensive-looking object per frame.</a:t>
            </a:r>
          </a:p>
        </p:txBody>
      </p:sp>
      <p:pic>
        <p:nvPicPr>
          <p:cNvPr id="6" name="Picture 5" descr="t_luxury_center_2.738_1.620_None_c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49424"/>
            <a:ext cx="2503924" cy="1481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3913632"/>
            <a:ext cx="2503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FFFFFF"/>
                </a:solidFill>
                <a:latin typeface="Arial"/>
              </a:rPr>
              <a:t>MATCHED PAIR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187952"/>
            <a:ext cx="24582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A hotel lobby and a dark bathroom, identical frame width and height, one caption between them. The symmetry is the argument: same slab, two rooms, one batch.</a:t>
            </a:r>
          </a:p>
        </p:txBody>
      </p:sp>
      <p:pic>
        <p:nvPicPr>
          <p:cNvPr id="9" name="Picture 8" descr="t_materials_center_2.738_1.620_None_c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476" y="2249424"/>
            <a:ext cx="2503924" cy="1481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91476" y="3913632"/>
            <a:ext cx="2503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FFFFFF"/>
                </a:solidFill>
                <a:latin typeface="Arial"/>
              </a:rPr>
              <a:t>THE LEVITATING 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476" y="4187952"/>
            <a:ext cx="24582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Statuario disc, veined nero, fluted walnut, travertine dome, brass rod, glass capsule — the collage drifts away from the cursor. The only maximal screen on the site.</a:t>
            </a:r>
          </a:p>
        </p:txBody>
      </p:sp>
      <p:pic>
        <p:nvPicPr>
          <p:cNvPr id="12" name="Picture 11" descr="t_peak_center_2.738_1.620_None_c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68" y="2249424"/>
            <a:ext cx="2503924" cy="1481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6568" y="3913632"/>
            <a:ext cx="2503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FFFFFF"/>
                </a:solidFill>
                <a:latin typeface="Arial"/>
              </a:rPr>
              <a:t>MIRROR-POLISHED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6568" y="4187952"/>
            <a:ext cx="24582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Full-bleed image, one title, nothing else. The claim — one vein, one shade, one batch — is carried entirely by the reflection.</a:t>
            </a:r>
          </a:p>
        </p:txBody>
      </p:sp>
      <p:pic>
        <p:nvPicPr>
          <p:cNvPr id="15" name="Picture 14" descr="t_scale_center_2.738_1.620_None_c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61" y="2249424"/>
            <a:ext cx="2503924" cy="148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01661" y="3913632"/>
            <a:ext cx="2503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60">
                <a:solidFill>
                  <a:srgbClr val="FFFFFF"/>
                </a:solidFill>
                <a:latin typeface="Arial"/>
              </a:rPr>
              <a:t>GOLDEN HOUR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1661" y="4187952"/>
            <a:ext cx="24582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A clifftop terrace above an infinity pool. Light is what a surface is judged on, so the closing plate is a lighting test disguised as a lifestyle shot.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5852160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016752"/>
            <a:ext cx="106192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rial"/>
              </a:rPr>
              <a:t>Every one of these frames is also a product shot. Nothing on the page is decorative-only — the mood board and the catalogue are the same asset.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UX &amp;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800" b="1" spc="-40">
                <a:solidFill>
                  <a:srgbClr val="FFFFFF"/>
                </a:solidFill>
                <a:latin typeface="Arial"/>
              </a:rPr>
              <a:t>DESIGNING THE JOURNEY FROM INSPIRATION TO ENQUIRY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956816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231136"/>
            <a:ext cx="19190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160">
                <a:solidFill>
                  <a:srgbClr val="ED1C24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523744"/>
            <a:ext cx="19190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spc="-20">
                <a:solidFill>
                  <a:srgbClr val="FFFFFF"/>
                </a:solidFill>
                <a:latin typeface="Arial"/>
              </a:rPr>
              <a:t>DISCOVER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3017520"/>
            <a:ext cx="1736134" cy="1524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182112"/>
            <a:ext cx="18275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spc="60">
                <a:solidFill>
                  <a:srgbClr val="C0C0C0"/>
                </a:solidFill>
                <a:latin typeface="Arial"/>
              </a:rPr>
              <a:t>HERO → MORBI → EXPORT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767328"/>
            <a:ext cx="182757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Who made this, where, and how far it already ships. Three screens, no navigation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7110" y="2560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1430" y="2231136"/>
            <a:ext cx="19190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160">
                <a:solidFill>
                  <a:srgbClr val="ED1C24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1430" y="2523744"/>
            <a:ext cx="19190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spc="-20">
                <a:solidFill>
                  <a:srgbClr val="FFFFFF"/>
                </a:solidFill>
                <a:latin typeface="Arial"/>
              </a:rPr>
              <a:t>EXPLORE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1430" y="3017520"/>
            <a:ext cx="1736134" cy="1524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1430" y="3182112"/>
            <a:ext cx="18275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spc="60">
                <a:solidFill>
                  <a:srgbClr val="C0C0C0"/>
                </a:solidFill>
                <a:latin typeface="Arial"/>
              </a:rPr>
              <a:t>MATERIALS → GALLERY → SPACES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1430" y="3767328"/>
            <a:ext cx="182757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Browse surfaces the way a designer does — by room and by mood, never by SKU.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2157" y="2560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6477" y="2231136"/>
            <a:ext cx="19190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160">
                <a:solidFill>
                  <a:srgbClr val="ED1C24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6477" y="2523744"/>
            <a:ext cx="19190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spc="-20">
                <a:solidFill>
                  <a:srgbClr val="FFFFFF"/>
                </a:solidFill>
                <a:latin typeface="Arial"/>
              </a:rPr>
              <a:t>UNDERSTAND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6477" y="3017520"/>
            <a:ext cx="1736134" cy="1524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6477" y="3182112"/>
            <a:ext cx="18275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spc="60">
                <a:solidFill>
                  <a:srgbClr val="C0C0C0"/>
                </a:solidFill>
                <a:latin typeface="Arial"/>
              </a:rPr>
              <a:t>RANGES → APPLICATIONS →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6477" y="3767328"/>
            <a:ext cx="182757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Seven ranges, three environments, four sizes. The tool screens live here, deliberately mid-scroll.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7204" y="2560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1524" y="2231136"/>
            <a:ext cx="19190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160">
                <a:solidFill>
                  <a:srgbClr val="ED1C24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1524" y="2523744"/>
            <a:ext cx="19190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spc="-20">
                <a:solidFill>
                  <a:srgbClr val="FFFFFF"/>
                </a:solidFill>
                <a:latin typeface="Arial"/>
              </a:rPr>
              <a:t>SELECT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1524" y="3017520"/>
            <a:ext cx="1736134" cy="1524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1524" y="3182112"/>
            <a:ext cx="18275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spc="60">
                <a:solidFill>
                  <a:srgbClr val="C0C0C0"/>
                </a:solidFill>
                <a:latin typeface="Arial"/>
              </a:rPr>
              <a:t>1,000 DESIGNS →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1524" y="3767328"/>
            <a:ext cx="182757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Range depth and capacity, so a buyer can size the order before they size the relationship.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2250" y="2560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6570" y="2231136"/>
            <a:ext cx="19190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160">
                <a:solidFill>
                  <a:srgbClr val="ED1C24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6570" y="2523744"/>
            <a:ext cx="19190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spc="-20">
                <a:solidFill>
                  <a:srgbClr val="FFFFFF"/>
                </a:solidFill>
                <a:latin typeface="Arial"/>
              </a:rPr>
              <a:t>ENQUIRE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86570" y="3017520"/>
            <a:ext cx="1736134" cy="1524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86570" y="3182112"/>
            <a:ext cx="18275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spc="60">
                <a:solidFill>
                  <a:srgbClr val="C0C0C0"/>
                </a:solidFill>
                <a:latin typeface="Arial"/>
              </a:rPr>
              <a:t>FLOATING CONTACT → FOOTER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6570" y="3767328"/>
            <a:ext cx="182757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A 52px WhatsApp and chat pair pinned to the thumb arc at every breakpoint, plus the full contact block.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" y="5029200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5248656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NAVIGATION PHILOSOPHY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5559552"/>
            <a:ext cx="332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Scroll is the primary navigation. The burger menu holds four links only — Home, About, Products, Contact — because the page already is the sitemap.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2797" y="5248656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INFORMATION HIERARCHY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2797" y="5559552"/>
            <a:ext cx="332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Emotional proof first, technical proof second. Packing tables and container loads exist, but they sit below the point where a visitor has already been convinced.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9211" y="5248656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80">
                <a:solidFill>
                  <a:srgbClr val="FFFFFF"/>
                </a:solidFill>
                <a:latin typeface="Arial"/>
              </a:rPr>
              <a:t>PRODUCT DISCOVERY &amp; CTA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9211" y="5559552"/>
            <a:ext cx="332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Gallery lightboxes, a format stepper and an arrow-driven applications rail. One action above the fold, one persistent affordance in the thumb zone, one contact block at the end. No pop-ups.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INTERACTION, MOTION &amp; DIGITAL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spc="-40">
                <a:solidFill>
                  <a:srgbClr val="FFFFFF"/>
                </a:solidFill>
                <a:latin typeface="Arial"/>
              </a:rPr>
              <a:t>MOVEMENT WITH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79222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Arial"/>
              </a:rPr>
              <a:t>Every behaviour below exists to answer a question a buyer would otherwise have to ask. None of it loops in the periphery competing with the subject.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267712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4871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SMOOTH SCROLL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61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LENIS-DRIVEN INERTIA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48716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Makes a 22-screen page feel like turning pages instead of dragging a document.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304" y="24871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PINNED 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304" y="27614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SPACES · RANGES · APPLICATIONS ·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2608" y="248716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Four sections hold the viewport while their content steps. A scroll-past becomes measured dwell time on product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2644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LINE REVEALS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53872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HEADLINES SPLIT INTO MASKED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326440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The positioning statement arrives as a sentence being spoken, not as a block appearing.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304" y="32644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IMAGE WIPES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353872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CLIP-PATH REVEALS, LEFT AND 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2608" y="326440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A slab uncovers the way a sample is drawn out of a rack — the motion mirrors the material.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041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THE ZEBRA WORDMARK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31596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DUAL-LAYER CLIP INVERSION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404164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The fixed mark stays legible over black and white plates without ever changing colour. The red bullseye never inverts.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304" y="4041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THE LEVITATION 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304" y="431596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CURSOR LERP + SCROLL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2608" y="404164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Six collage pieces move at different depths. The one moment the site plays — and it sits on Premium Materials.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818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THE DAY DIAL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093207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CLOCK HANDS SWING TO EACH HOUR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8688" y="481888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One floor at 07:00, 13:00, 19:00 and 23:00. Answers 'how will it look in my light?' in four clicks.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304" y="4818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FORMAT STEPPER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304" y="5093207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TABS DRIVE A LIVE SVG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2608" y="481888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600×1200 down to 400×400 redraws with dimension lines — a spec sheet that behaves like a configurator.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5961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THUMB-ZONE 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87044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52 × 52PX, PERSISTENT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88" y="559612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WhatsApp and chat pinned bottom-right at every breakpoint — the highest tap-density zone on a phone.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304" y="55961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40">
                <a:solidFill>
                  <a:srgbClr val="FFFFFF"/>
                </a:solidFill>
                <a:latin typeface="Arial"/>
              </a:rPr>
              <a:t>REDUCED MOTION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0304" y="587044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spc="60">
                <a:solidFill>
                  <a:srgbClr val="ED1C24"/>
                </a:solidFill>
                <a:latin typeface="Arial"/>
              </a:rPr>
              <a:t>PREFERS-REDUCED-MOTION HONOURED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2608" y="5596128"/>
            <a:ext cx="2602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Arial"/>
              </a:rPr>
              <a:t>Every reveal has a painted base state and autoplay is suppressed, so the page is complete without animation.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VALIDATION · VISUAL ATTENTION HEAT-MAP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spc="-40">
                <a:solidFill>
                  <a:srgbClr val="FFFFFF"/>
                </a:solidFill>
                <a:latin typeface="Arial"/>
              </a:rPr>
              <a:t>THE DESIGN,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9968"/>
            <a:ext cx="10619201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28600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400" b="1" spc="-200">
                <a:solidFill>
                  <a:srgbClr val="FFFFFF"/>
                </a:solidFill>
                <a:latin typeface="Arial"/>
              </a:rPr>
              <a:t>7.5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8064" y="303580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>
                <a:solidFill>
                  <a:srgbClr val="ED1C24"/>
                </a:solidFill>
                <a:latin typeface="Arial"/>
              </a:rPr>
              <a:t>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63931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spc="100">
                <a:solidFill>
                  <a:srgbClr val="8A8A8A"/>
                </a:solidFill>
                <a:latin typeface="Arial"/>
              </a:rPr>
              <a:t>OVERALL HEAT-MAP SCORE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spc="100">
                <a:solidFill>
                  <a:srgbClr val="8A8A8A"/>
                </a:solidFill>
                <a:latin typeface="Arial"/>
              </a:rPr>
              <a:t>WELL ABOVE CATEGORY NORM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104" y="22860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 spc="-60">
                <a:solidFill>
                  <a:srgbClr val="ED1C24"/>
                </a:solidFill>
                <a:latin typeface="Arial"/>
              </a:rPr>
              <a:t>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4144" y="2359152"/>
            <a:ext cx="183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50">
                <a:solidFill>
                  <a:srgbClr val="FFFFFF"/>
                </a:solidFill>
                <a:latin typeface="Arial"/>
              </a:rPr>
              <a:t>COMPETING FOCALS PER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798064"/>
            <a:ext cx="183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Category norm is 8–12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3200400"/>
            <a:ext cx="329792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224" y="22860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 spc="-60">
                <a:solidFill>
                  <a:srgbClr val="ED1C24"/>
                </a:solidFill>
                <a:latin typeface="Arial"/>
              </a:rPr>
              <a:t>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9264" y="2359152"/>
            <a:ext cx="183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50">
                <a:solidFill>
                  <a:srgbClr val="FFFFFF"/>
                </a:solidFill>
                <a:latin typeface="Arial"/>
              </a:rPr>
              <a:t>SCREENS WITH 3 FOCALS OR FEWER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264" y="2798064"/>
            <a:ext cx="183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45% carry two or fewer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6224" y="3200400"/>
            <a:ext cx="329792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343814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 spc="-60">
                <a:solidFill>
                  <a:srgbClr val="ED1C24"/>
                </a:solidFill>
                <a:latin typeface="Arial"/>
              </a:rPr>
              <a:t>4.2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44" y="3511296"/>
            <a:ext cx="183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50">
                <a:solidFill>
                  <a:srgbClr val="FFFFFF"/>
                </a:solidFill>
                <a:latin typeface="Arial"/>
              </a:rPr>
              <a:t>FOCAL CLARITY INDEX, OUT OF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3950208"/>
            <a:ext cx="183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Across all 22 sections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4352544"/>
            <a:ext cx="329792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6224" y="343814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 spc="-60">
                <a:solidFill>
                  <a:srgbClr val="ED1C24"/>
                </a:solidFill>
                <a:latin typeface="Arial"/>
              </a:rPr>
              <a:t>9/10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64" y="3511296"/>
            <a:ext cx="183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50">
                <a:solidFill>
                  <a:srgbClr val="FFFFFF"/>
                </a:solidFill>
                <a:latin typeface="Arial"/>
              </a:rPr>
              <a:t>IMAGERY ATTENTION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9264" y="3950208"/>
            <a:ext cx="183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The highest-scoring dimension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6224" y="4352544"/>
            <a:ext cx="3297920" cy="9525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4700016"/>
            <a:ext cx="106192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120">
                <a:solidFill>
                  <a:srgbClr val="FFFFFF"/>
                </a:solidFill>
                <a:latin typeface="Arial"/>
              </a:rPr>
              <a:t>WHAT THE MODEL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992624"/>
            <a:ext cx="332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ED1C24"/>
                </a:solidFill>
                <a:latin typeface="Arial"/>
              </a:rPr>
              <a:t>Heat concentrates, it does not scatter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5431536"/>
            <a:ext cx="332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Nearly every screen resolves to one dominant subject. Very few sites in this category hold a single focal per screen this consistently.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2797" y="4992624"/>
            <a:ext cx="332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ED1C24"/>
                </a:solidFill>
                <a:latin typeface="Arial"/>
              </a:rPr>
              <a:t>The fold lands in under 0.4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2797" y="5431536"/>
            <a:ext cx="332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A face is the strongest saliency trigger in visual perception, and here it sits on the seam between the dark panel and the lit interior.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9211" y="4992624"/>
            <a:ext cx="332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ED1C24"/>
                </a:solidFill>
                <a:latin typeface="Arial"/>
              </a:rPr>
              <a:t>Two dense screens — both on 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9211" y="5431536"/>
            <a:ext cx="332637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The materials collage and the gallery are browse surfaces where scanning, not fixation, is intended. No unintended competition was found anywhere.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VALIDATION · WHERE THE EYE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800" b="1" spc="-40">
                <a:solidFill>
                  <a:srgbClr val="FFFFFF"/>
                </a:solidFill>
                <a:latin typeface="Arial"/>
              </a:rPr>
              <a:t>A MAGAZINE SIGNATURE, NOT A CATALOGUE SIGNATURE</a:t>
            </a:r>
          </a:p>
        </p:txBody>
      </p:sp>
      <p:pic>
        <p:nvPicPr>
          <p:cNvPr id="5" name="Picture 4" descr="heatpage_2_top_6.300_3.938_None_h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75104"/>
            <a:ext cx="5760720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776722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The rendered desktop fold with the modelled attention overlay: a calm field on the left third, one primary fixation, one isolated action affordance, and the brand signature closing the sweep.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2020824"/>
            <a:ext cx="82296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4032" y="1956816"/>
            <a:ext cx="429155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50">
                <a:solidFill>
                  <a:srgbClr val="FFFFFF"/>
                </a:solidFill>
                <a:latin typeface="Arial"/>
              </a:rPr>
              <a:t>EIGHT TONAL RESETS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2249424"/>
            <a:ext cx="429155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The page alternates dark and light plates eight times. Each switch forces a pupil adjustment and re-engages attention — why long editorial scrolls hold a reader.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971800"/>
            <a:ext cx="82296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2907792"/>
            <a:ext cx="429155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50">
                <a:solidFill>
                  <a:srgbClr val="FFFFFF"/>
                </a:solidFill>
                <a:latin typeface="Arial"/>
              </a:rPr>
              <a:t>A PREDICTABLE READING AXIS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3200400"/>
            <a:ext cx="429155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Copy left, imagery right, learned by roughly the third screen. Scanning cost drops sharply from there; the few reversals are used as accents.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922776"/>
            <a:ext cx="82296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3858768"/>
            <a:ext cx="429155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50">
                <a:solidFill>
                  <a:srgbClr val="FFFFFF"/>
                </a:solidFill>
                <a:latin typeface="Arial"/>
              </a:rPr>
              <a:t>TEN SINGLE-SUBJECT SCREENS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4151376"/>
            <a:ext cx="429155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10 of 22 sections present two or fewer competing elements. On a heat map these render as one clean hotspot each — the strongest structural finding in the report.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873752"/>
            <a:ext cx="82296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4809744"/>
            <a:ext cx="429155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spc="50">
                <a:solidFill>
                  <a:srgbClr val="FFFFFF"/>
                </a:solidFill>
                <a:latin typeface="Arial"/>
              </a:rPr>
              <a:t>ERGONOMICS AHEAD OF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5102352"/>
            <a:ext cx="429155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The persistent 52px contact affordance sits inside the bottom-right thumb arc. Most manufacturer sites put contact behind a menu and a scroll.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760720"/>
            <a:ext cx="4547585" cy="177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5907024"/>
            <a:ext cx="454758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Projected 8.9 / 10 — every remaining point is one crop value, one copy block and three style rules.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5A5A5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5A5A5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ale_goldenhour_center_13.333_7.500_0.36_cl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120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spc="260">
                <a:solidFill>
                  <a:srgbClr val="ED1C24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51206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spc="260">
                <a:solidFill>
                  <a:srgbClr val="8A8A8A"/>
                </a:solidFill>
                <a:latin typeface="Arial"/>
              </a:rPr>
              <a:t>THE EXPERIENCE · DESIGN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914400"/>
            <a:ext cx="1061920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800" b="1" spc="-40">
                <a:solidFill>
                  <a:srgbClr val="FFFFFF"/>
                </a:solidFill>
                <a:latin typeface="Arial"/>
              </a:rPr>
              <a:t>WHY THIS CONCEPT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2048256"/>
            <a:ext cx="1005840" cy="228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395728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spc="60">
                <a:solidFill>
                  <a:srgbClr val="ED1C24"/>
                </a:solidFill>
                <a:latin typeface="Arial"/>
              </a:rPr>
              <a:t>DISTINCTIVE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06624"/>
            <a:ext cx="332637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50" b="0">
                <a:solidFill>
                  <a:srgbClr val="DDDDDD"/>
                </a:solidFill>
                <a:latin typeface="Arial"/>
              </a:rPr>
              <a:t>No competitor in this category opens on a face and a calm field. The page looks like a fashion house that happens to fire porcelain.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2797" y="2395728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spc="60">
                <a:solidFill>
                  <a:srgbClr val="ED1C24"/>
                </a:solidFill>
                <a:latin typeface="Arial"/>
              </a:rPr>
              <a:t>MEMORABLE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2797" y="2706624"/>
            <a:ext cx="332637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50" b="0">
                <a:solidFill>
                  <a:srgbClr val="DDDDDD"/>
                </a:solidFill>
                <a:latin typeface="Arial"/>
              </a:rPr>
              <a:t>Recognition is built into the photography — a red marble wall, a red horse, a red car, red velvet. The colour survives without the logo.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9211" y="2395728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spc="60">
                <a:solidFill>
                  <a:srgbClr val="ED1C24"/>
                </a:solidFill>
                <a:latin typeface="Arial"/>
              </a:rPr>
              <a:t>EASY TO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9211" y="2706624"/>
            <a:ext cx="332637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50" b="0">
                <a:solidFill>
                  <a:srgbClr val="DDDDDD"/>
                </a:solidFill>
                <a:latin typeface="Arial"/>
              </a:rPr>
              <a:t>Twenty-two screens, 3.1 competing elements each, one predictable reading axis, one persistent way to make contact.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694176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spc="60">
                <a:solidFill>
                  <a:srgbClr val="ED1C24"/>
                </a:solidFill>
                <a:latin typeface="Arial"/>
              </a:rPr>
              <a:t>IT SHOWCASES 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005072"/>
            <a:ext cx="332637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50" b="0">
                <a:solidFill>
                  <a:srgbClr val="DDDDDD"/>
                </a:solidFill>
                <a:latin typeface="Arial"/>
              </a:rPr>
              <a:t>Every frame is simultaneously a mood image and a product shot. Nothing on the page is decoration-only.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2797" y="3694176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spc="60">
                <a:solidFill>
                  <a:srgbClr val="ED1C24"/>
                </a:solidFill>
                <a:latin typeface="Arial"/>
              </a:rPr>
              <a:t>IT CREATES THE RIGHT PERCEPTION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2797" y="4005072"/>
            <a:ext cx="332637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50" b="0">
                <a:solidFill>
                  <a:srgbClr val="DDDDDD"/>
                </a:solidFill>
                <a:latin typeface="Arial"/>
              </a:rPr>
              <a:t>Indian origin reads as provenance. Seven units and 16,000 sq.m a day read as capability. Neither is claimed loudly.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9211" y="3694176"/>
            <a:ext cx="332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spc="60">
                <a:solidFill>
                  <a:srgbClr val="ED1C24"/>
                </a:solidFill>
                <a:latin typeface="Arial"/>
              </a:rPr>
              <a:t>IT IS COHERENT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9211" y="4005072"/>
            <a:ext cx="332637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50" b="0">
                <a:solidFill>
                  <a:srgbClr val="DDDDDD"/>
                </a:solidFill>
                <a:latin typeface="Arial"/>
              </a:rPr>
              <a:t>One accent, one easing curve, three type voices, zero radius, zero shadows. A system small enough to hold in the head — which is why it never breaks.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5084064"/>
            <a:ext cx="10619201" cy="9525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321808"/>
            <a:ext cx="1061920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 spc="-30">
                <a:solidFill>
                  <a:srgbClr val="FFFFFF"/>
                </a:solidFill>
                <a:latin typeface="Arial"/>
              </a:rPr>
              <a:t>Crafted in Morbi. Designed for the World.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5852160"/>
            <a:ext cx="106192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B4B4B4"/>
                </a:solidFill>
                <a:latin typeface="Arial"/>
              </a:rPr>
              <a:t>One town, named without apology. One standard, demonstrated without a single superlative.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 spc="140">
                <a:solidFill>
                  <a:srgbClr val="8A8A8A"/>
                </a:solidFill>
                <a:latin typeface="Arial"/>
              </a:rPr>
              <a:t>ORKAY TILES INTERNATIONAL  ·  WEBSITE CONCEPT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254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1" spc="160">
                <a:solidFill>
                  <a:srgbClr val="8A8A8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